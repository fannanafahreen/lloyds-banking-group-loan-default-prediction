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D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LLOYDS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GROUP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8046720" y="274320"/>
            <a:ext cx="73152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Plan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approached predicting loan default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286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14600"/>
            <a:ext cx="2651760" cy="23317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514600"/>
            <a:ext cx="2651760" cy="502920"/>
          </a:xfrm>
          <a:prstGeom prst="rect">
            <a:avLst/>
          </a:prstGeom>
          <a:solidFill>
            <a:srgbClr val="90EEC0">
              <a:alpha val="80000"/>
            </a:srgbClr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42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18,324 customer records across 31 features to understand the dataset and identify patterns between customers who repaid and those who defaulted.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514600"/>
            <a:ext cx="2651760" cy="23317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514600"/>
            <a:ext cx="2651760" cy="502920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542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0332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09067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across 18 columns, capped outliers using IQR method, encoded categorical variables and scaled features for model readiness.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2514600"/>
            <a:ext cx="2651760" cy="23317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2514600"/>
            <a:ext cx="2651760" cy="502920"/>
          </a:xfrm>
          <a:prstGeom prst="rect">
            <a:avLst/>
          </a:prstGeom>
          <a:solidFill>
            <a:srgbClr val="90EEC0">
              <a:alpha val="80000"/>
            </a:srgbClr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542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Predict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09067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two machine learning models — Random Forest and XGBoost — to predict which customers are likely to default on their loan.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Fannana Fahreen Aanan  |  MSc Data Science (FinTech)  |  University of Greenwich  |  Digdata Step Up Challenge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LLOYDS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spc="200" kern="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GROUP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2377440" y="2011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defaults and why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274320"/>
            <a:ext cx="73152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097280"/>
            <a:ext cx="2651760" cy="1188720"/>
          </a:xfrm>
          <a:prstGeom prst="rect">
            <a:avLst/>
          </a:prstGeom>
          <a:solidFill>
            <a:srgbClr val="F4FA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43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defaulted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993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3,906 Charged Off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097280"/>
            <a:ext cx="2651760" cy="1188720"/>
          </a:xfrm>
          <a:prstGeom prst="rect">
            <a:avLst/>
          </a:prstGeom>
          <a:solidFill>
            <a:srgbClr val="F4FAF7"/>
          </a:solidFill>
          <a:ln w="25400">
            <a:solidFill>
              <a:srgbClr val="006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43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£8.5k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4612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income per 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993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earn less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097280"/>
            <a:ext cx="2651760" cy="1188720"/>
          </a:xfrm>
          <a:prstGeom prst="rect">
            <a:avLst/>
          </a:prstGeom>
          <a:solidFill>
            <a:srgbClr val="F4FAF7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143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8076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interest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1993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 signal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Factors Identified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2651760" cy="822960"/>
          </a:xfrm>
          <a:prstGeom prst="rect">
            <a:avLst/>
          </a:prstGeom>
          <a:solidFill>
            <a:srgbClr val="F4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346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Interest 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predictor (importance: 0.128). Customers with rates above 16% default significantly more.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2834640"/>
            <a:ext cx="2651760" cy="822960"/>
          </a:xfrm>
          <a:prstGeom prst="rect">
            <a:avLst/>
          </a:prstGeom>
          <a:solidFill>
            <a:srgbClr val="F4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28346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Annual Income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earning under £50k face greater financial pressure and struggle to maintain repayments.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2834640"/>
            <a:ext cx="2651760" cy="822960"/>
          </a:xfrm>
          <a:prstGeom prst="rect">
            <a:avLst/>
          </a:prstGeom>
          <a:solidFill>
            <a:srgbClr val="F4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2834640"/>
            <a:ext cx="64008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Loan Amount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over £20k combined with low income creates an unsustainable debt burden.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794760"/>
            <a:ext cx="2651760" cy="822960"/>
          </a:xfrm>
          <a:prstGeom prst="rect">
            <a:avLst/>
          </a:prstGeom>
          <a:solidFill>
            <a:srgbClr val="F4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794760"/>
            <a:ext cx="64008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Loan Term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terms indicate the customer cannot afford shorter repayments — a sign of financial strain.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54680" y="3794760"/>
            <a:ext cx="2651760" cy="822960"/>
          </a:xfrm>
          <a:prstGeom prst="rect">
            <a:avLst/>
          </a:prstGeom>
          <a:solidFill>
            <a:srgbClr val="F4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3794760"/>
            <a:ext cx="64008" cy="822960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Total Debt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existing high total balances are already stretched — adding more debt tips them over.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3794760"/>
            <a:ext cx="2651760" cy="822960"/>
          </a:xfrm>
          <a:prstGeom prst="rect">
            <a:avLst/>
          </a:prstGeom>
          <a:solidFill>
            <a:srgbClr val="F4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89320" y="3794760"/>
            <a:ext cx="64008" cy="822960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vs Owning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264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default at higher rates than mortgage holders — homeownership signals financial stability.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74320"/>
            <a:ext cx="73152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645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LLOYDS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spc="200" kern="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GROUP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2377440" y="25603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Advice to Lloyds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377440" y="804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responsible and data-driven lending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280160"/>
            <a:ext cx="73152" cy="6858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335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33502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scale_pos_weight — ROC AUC: 0.69, Catches 56% of defaulters, Best balance of precision and 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11480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03120"/>
            <a:ext cx="64008" cy="1143000"/>
          </a:xfrm>
          <a:prstGeom prst="rect">
            <a:avLst/>
          </a:prstGeom>
          <a:solidFill>
            <a:srgbClr val="90EEC0"/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194560"/>
            <a:ext cx="347472" cy="347472"/>
          </a:xfrm>
          <a:prstGeom prst="ellipse">
            <a:avLst/>
          </a:prstGeom>
          <a:solidFill>
            <a:srgbClr val="90EEC0"/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Interest Rate as Primary 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54203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importance score 0.128 — double any other feature — interest rate should be the first variable checked in any lending decision. High rates flag high-risk customers.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11480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103120"/>
            <a:ext cx="64008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194560"/>
            <a:ext cx="347472" cy="34747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Affordability Holistically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54203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assess income alone. Calculate debt-to-income ratio combining annual income, monthly installment, and existing total debt to get a true picture of affordability.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411480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429000"/>
            <a:ext cx="64008" cy="1143000"/>
          </a:xfrm>
          <a:prstGeom prst="rect">
            <a:avLst/>
          </a:prstGeom>
          <a:solidFill>
            <a:srgbClr val="90EEC0"/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520440"/>
            <a:ext cx="347472" cy="347472"/>
          </a:xfrm>
          <a:prstGeom prst="ellipse">
            <a:avLst/>
          </a:prstGeom>
          <a:solidFill>
            <a:srgbClr val="90EEC0"/>
          </a:solidFill>
          <a:ln w="12700">
            <a:solidFill>
              <a:srgbClr val="90EE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60-Month Term Applications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38679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requesting 60-month terms should trigger additional scrutiny. This term length is a strong proxy for customers who cannot afford higher monthly repayments.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29000"/>
            <a:ext cx="411480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429000"/>
            <a:ext cx="64008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520440"/>
            <a:ext cx="347472" cy="34747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Fair &amp; Explainable Decisions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8679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declined application must be explainable. Use feature importance to provide clear reasons — this ensures regulatory compliance and treats all customers fairly.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Britain Prosper — through data-driven, fair and responsible lending decisions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Lloyds Banking Group — Loan Default Prediction</dc:title>
  <dc:subject>PptxGenJS Presentation</dc:subject>
  <dc:creator>Fannana Fahreen Aanan</dc:creator>
  <cp:lastModifiedBy>Fannana Fahreen Aanan</cp:lastModifiedBy>
  <cp:revision>1</cp:revision>
  <dcterms:created xsi:type="dcterms:W3CDTF">2026-06-05T14:14:09Z</dcterms:created>
  <dcterms:modified xsi:type="dcterms:W3CDTF">2026-06-05T14:14:09Z</dcterms:modified>
</cp:coreProperties>
</file>